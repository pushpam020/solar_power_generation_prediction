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ie9Az7R1FjmmSOHDRMqEIUE8Rr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slide" Target="/ppt/slides/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BFD4"/>
            </a:gs>
            <a:gs pos="100000">
              <a:srgbClr val="F1DD76"/>
            </a:gs>
          </a:gsLst>
          <a:lin ang="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00191" y="1176787"/>
            <a:ext cx="18087618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4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🌞Solar Power Generation Prediction using Machine Learning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10843855" y="7701655"/>
            <a:ext cx="6008251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Presented by: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Group 1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 Science Trainee | ExcelR Institute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2996922" y="3669899"/>
            <a:ext cx="12294155" cy="97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Tools &amp; Technologies Used:</a:t>
            </a:r>
            <a:endParaRPr/>
          </a:p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 · Pandas · Scikit-learn · Matplotlib · XGBoost · Streamlit · GitHub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2996922" y="5433404"/>
            <a:ext cx="11716465" cy="97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Deployed App:</a:t>
            </a:r>
            <a:endParaRPr/>
          </a:p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🔗 </a:t>
            </a:r>
            <a:r>
              <a:rPr b="1" i="0" lang="en-US" sz="2799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https://solarpowerapp-fx6akuz7phlbpaspgm5pcn.streamlit.app/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3431915" y="2323700"/>
            <a:ext cx="11784331" cy="555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50" u="none" cap="none" strike="noStrike">
                <a:solidFill>
                  <a:srgbClr val="007A3F"/>
                </a:solidFill>
                <a:latin typeface="Arial"/>
                <a:ea typeface="Arial"/>
                <a:cs typeface="Arial"/>
                <a:sym typeface="Arial"/>
              </a:rPr>
              <a:t>(A Data Science Project for Renewable Energy Forecasting)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BFD4"/>
            </a:gs>
            <a:gs pos="100000">
              <a:srgbClr val="F1DD76"/>
            </a:gs>
          </a:gsLst>
          <a:lin ang="0" scaled="0"/>
        </a:gra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6177096" y="1155090"/>
            <a:ext cx="4538186" cy="704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4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2871946" y="2953360"/>
            <a:ext cx="12544200" cy="68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🌞 Introduction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Project Goal &amp; Workflow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📊 Dataset Overview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🔍 Exploratory Data Analysis (EDA)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🧹 Data Preprocessing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🤖 Modeling Overview &amp; Results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🌐 Deployment &amp; Live Output</a:t>
            </a:r>
            <a:endParaRPr/>
          </a:p>
          <a:p>
            <a:pPr indent="-269875" lvl="1" marL="539748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🧩 Challenge</a:t>
            </a:r>
            <a:endParaRPr sz="2499"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📝 Conclusion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🚀 Future Work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BFD4"/>
            </a:gs>
            <a:gs pos="100000">
              <a:srgbClr val="F1DD76"/>
            </a:gs>
          </a:gsLst>
          <a:lin ang="0" scaled="0"/>
        </a:gra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/>
        </p:nvSpPr>
        <p:spPr>
          <a:xfrm>
            <a:off x="6547192" y="1227881"/>
            <a:ext cx="4113133" cy="704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4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🌞 Introduction</a:t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2311772" y="3281486"/>
            <a:ext cx="13686966" cy="3060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9880" lvl="1" marL="539759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Solar power output depends heavily on weather conditions.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80" lvl="1" marL="539759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Accurate prediction helps in energy planning and resource optimization.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80" lvl="1" marL="539759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project builds an end-to-end Machine Learning system to forecast solar power generation using real-world weather features.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BFD4"/>
            </a:gs>
            <a:gs pos="100000">
              <a:srgbClr val="F1DD76"/>
            </a:gs>
          </a:gsLst>
          <a:lin ang="0" scaled="0"/>
        </a:gra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/>
        </p:nvSpPr>
        <p:spPr>
          <a:xfrm>
            <a:off x="5261256" y="952500"/>
            <a:ext cx="7045166" cy="704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4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Project Goal &amp; Workflow</a:t>
            </a:r>
            <a:endParaRPr/>
          </a:p>
        </p:txBody>
      </p:sp>
      <p:sp>
        <p:nvSpPr>
          <p:cNvPr id="106" name="Google Shape;106;p4"/>
          <p:cNvSpPr txBox="1"/>
          <p:nvPr/>
        </p:nvSpPr>
        <p:spPr>
          <a:xfrm>
            <a:off x="1444390" y="2865489"/>
            <a:ext cx="155067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predict solar power generation using weather-based parameters through machine learning,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/>
              <a:t>identify</a:t>
            </a: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key influencing features, and deploy a real-time Streamlit web app for prediction and analysis.</a:t>
            </a:r>
            <a:endParaRPr/>
          </a:p>
        </p:txBody>
      </p:sp>
      <p:sp>
        <p:nvSpPr>
          <p:cNvPr id="107" name="Google Shape;107;p4"/>
          <p:cNvSpPr txBox="1"/>
          <p:nvPr/>
        </p:nvSpPr>
        <p:spPr>
          <a:xfrm>
            <a:off x="1444390" y="5373739"/>
            <a:ext cx="5567482" cy="3116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Workflow:</a:t>
            </a:r>
            <a:endParaRPr/>
          </a:p>
          <a:p>
            <a:pPr indent="-275277" lvl="1" marL="550553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AutoNum type="arabicPeriod"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Collection</a:t>
            </a:r>
            <a:endParaRPr/>
          </a:p>
          <a:p>
            <a:pPr indent="-275277" lvl="1" marL="550553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AutoNum type="arabicPeriod"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EDA &amp; Visualization</a:t>
            </a:r>
            <a:endParaRPr/>
          </a:p>
          <a:p>
            <a:pPr indent="-275277" lvl="1" marL="550553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AutoNum type="arabicPeriod"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Preprocessing (Scaling)</a:t>
            </a:r>
            <a:endParaRPr/>
          </a:p>
          <a:p>
            <a:pPr indent="-275277" lvl="1" marL="550553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AutoNum type="arabicPeriod"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Training &amp; Evaluation</a:t>
            </a:r>
            <a:endParaRPr/>
          </a:p>
          <a:p>
            <a:pPr indent="-275277" lvl="1" marL="550553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AutoNum type="arabicPeriod"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Model Selection</a:t>
            </a:r>
            <a:endParaRPr/>
          </a:p>
          <a:p>
            <a:pPr indent="-275277" lvl="1" marL="550553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AutoNum type="arabicPeriod"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Deployment on Streamlit Cloud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BFD4"/>
            </a:gs>
            <a:gs pos="100000">
              <a:srgbClr val="F1DD76"/>
            </a:gs>
          </a:gsLst>
          <a:lin ang="0" scaled="0"/>
        </a:gra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6564050" y="2543400"/>
            <a:ext cx="11247172" cy="6595716"/>
          </a:xfrm>
          <a:custGeom>
            <a:rect b="b" l="l" r="r" t="t"/>
            <a:pathLst>
              <a:path extrusionOk="0" h="6595716" w="12965040">
                <a:moveTo>
                  <a:pt x="0" y="0"/>
                </a:moveTo>
                <a:lnTo>
                  <a:pt x="12965040" y="0"/>
                </a:lnTo>
                <a:lnTo>
                  <a:pt x="12965040" y="6595715"/>
                </a:lnTo>
                <a:lnTo>
                  <a:pt x="0" y="65957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2287" r="-142871" t="-12526"/>
            </a:stretch>
          </a:blipFill>
          <a:ln cap="sq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3" name="Google Shape;113;p5"/>
          <p:cNvSpPr txBox="1"/>
          <p:nvPr/>
        </p:nvSpPr>
        <p:spPr>
          <a:xfrm>
            <a:off x="953096" y="952500"/>
            <a:ext cx="16381809" cy="704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45" u="none" cap="none" strike="noStrike">
                <a:solidFill>
                  <a:srgbClr val="121C2B"/>
                </a:solidFill>
                <a:latin typeface="Arial"/>
                <a:ea typeface="Arial"/>
                <a:cs typeface="Arial"/>
                <a:sym typeface="Arial"/>
              </a:rPr>
              <a:t>🗂️ Dataset Overview – Weather-Based Input Features</a:t>
            </a:r>
            <a:endParaRPr/>
          </a:p>
        </p:txBody>
      </p:sp>
      <p:sp>
        <p:nvSpPr>
          <p:cNvPr id="114" name="Google Shape;114;p5"/>
          <p:cNvSpPr txBox="1"/>
          <p:nvPr/>
        </p:nvSpPr>
        <p:spPr>
          <a:xfrm>
            <a:off x="9991041" y="1993111"/>
            <a:ext cx="2942987" cy="2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9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Sample Dataset (First 5 Rows)</a:t>
            </a:r>
            <a:endParaRPr/>
          </a:p>
        </p:txBody>
      </p:sp>
      <p:sp>
        <p:nvSpPr>
          <p:cNvPr id="115" name="Google Shape;115;p5"/>
          <p:cNvSpPr txBox="1"/>
          <p:nvPr/>
        </p:nvSpPr>
        <p:spPr>
          <a:xfrm>
            <a:off x="457447" y="2405270"/>
            <a:ext cx="5945995" cy="6833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4481" lvl="1" marL="52896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Char char="•"/>
            </a:pPr>
            <a:r>
              <a:rPr b="0" i="0" lang="en-US" sz="2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contains weather-based numerical features affecting solar power generation.</a:t>
            </a:r>
            <a:endParaRPr/>
          </a:p>
          <a:p>
            <a:pPr indent="-264481" lvl="1" marL="52896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Char char="•"/>
            </a:pPr>
            <a:r>
              <a:rPr b="0" i="0" lang="en-US" sz="2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features include:</a:t>
            </a:r>
            <a:endParaRPr/>
          </a:p>
          <a:p>
            <a:pPr indent="-352641" lvl="2" marL="105792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Char char="⚬"/>
            </a:pPr>
            <a:r>
              <a:rPr b="0" i="0" lang="en-US" sz="2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Temperature, humidity, visibility</a:t>
            </a:r>
            <a:endParaRPr/>
          </a:p>
          <a:p>
            <a:pPr indent="-352641" lvl="2" marL="105792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Char char="⚬"/>
            </a:pPr>
            <a:r>
              <a:rPr b="0" i="0" lang="en-US" sz="2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Wind-speed, sky-cover, wind-direction</a:t>
            </a:r>
            <a:endParaRPr/>
          </a:p>
          <a:p>
            <a:pPr indent="-352641" lvl="2" marL="105792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Char char="⚬"/>
            </a:pPr>
            <a:r>
              <a:rPr b="0" i="0" lang="en-US" sz="2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Distance-to-solar-noon</a:t>
            </a:r>
            <a:endParaRPr/>
          </a:p>
          <a:p>
            <a:pPr indent="-264481" lvl="1" marL="52896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Char char="•"/>
            </a:pPr>
            <a:r>
              <a:rPr b="0" i="0" lang="en-US" sz="2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 variable: power_generated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4481" lvl="1" marL="52896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Char char="•"/>
            </a:pPr>
            <a:r>
              <a:rPr b="0" i="0" lang="en-US" sz="2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Summary:</a:t>
            </a:r>
            <a:endParaRPr/>
          </a:p>
          <a:p>
            <a:pPr indent="-352641" lvl="2" marL="105792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Char char="⚬"/>
            </a:pPr>
            <a:r>
              <a:rPr b="0" i="0" lang="en-US" sz="2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Clean numerical dataset</a:t>
            </a:r>
            <a:endParaRPr/>
          </a:p>
          <a:p>
            <a:pPr indent="-352641" lvl="2" marL="105792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Char char="⚬"/>
            </a:pPr>
            <a:r>
              <a:rPr b="0" i="0" lang="en-US" sz="2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Suitable for regression modeling</a:t>
            </a:r>
            <a:endParaRPr/>
          </a:p>
          <a:p>
            <a:pPr indent="-352641" lvl="2" marL="105792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Char char="⚬"/>
            </a:pPr>
            <a:r>
              <a:rPr b="0" i="0" lang="en-US" sz="2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Strong variability across features → useful for learning patterns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BFD4"/>
            </a:gs>
            <a:gs pos="100000">
              <a:srgbClr val="F1DD76"/>
            </a:gs>
          </a:gsLst>
          <a:lin ang="0" scaled="0"/>
        </a:gra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7133723" y="3637484"/>
            <a:ext cx="6134539" cy="4348487"/>
          </a:xfrm>
          <a:custGeom>
            <a:rect b="b" l="l" r="r" t="t"/>
            <a:pathLst>
              <a:path extrusionOk="0" h="4348487" w="6134539">
                <a:moveTo>
                  <a:pt x="0" y="0"/>
                </a:moveTo>
                <a:lnTo>
                  <a:pt x="6134538" y="0"/>
                </a:lnTo>
                <a:lnTo>
                  <a:pt x="6134538" y="4348487"/>
                </a:lnTo>
                <a:lnTo>
                  <a:pt x="0" y="43484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458" r="-1457" t="0"/>
            </a:stretch>
          </a:blipFill>
          <a:ln>
            <a:noFill/>
          </a:ln>
        </p:spPr>
      </p:sp>
      <p:sp>
        <p:nvSpPr>
          <p:cNvPr id="121" name="Google Shape;121;p6"/>
          <p:cNvSpPr/>
          <p:nvPr/>
        </p:nvSpPr>
        <p:spPr>
          <a:xfrm>
            <a:off x="13268261" y="3637484"/>
            <a:ext cx="4904002" cy="4348487"/>
          </a:xfrm>
          <a:custGeom>
            <a:rect b="b" l="l" r="r" t="t"/>
            <a:pathLst>
              <a:path extrusionOk="0" h="4348487" w="4904002">
                <a:moveTo>
                  <a:pt x="0" y="0"/>
                </a:moveTo>
                <a:lnTo>
                  <a:pt x="4904002" y="0"/>
                </a:lnTo>
                <a:lnTo>
                  <a:pt x="4904002" y="4348487"/>
                </a:lnTo>
                <a:lnTo>
                  <a:pt x="0" y="43484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922" l="-2035" r="-2034" t="0"/>
            </a:stretch>
          </a:blipFill>
          <a:ln>
            <a:noFill/>
          </a:ln>
        </p:spPr>
      </p:sp>
      <p:sp>
        <p:nvSpPr>
          <p:cNvPr id="122" name="Google Shape;122;p6"/>
          <p:cNvSpPr txBox="1"/>
          <p:nvPr/>
        </p:nvSpPr>
        <p:spPr>
          <a:xfrm>
            <a:off x="4146817" y="642627"/>
            <a:ext cx="9184005" cy="704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4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🔍 Exploratory Data Analysis (EDA)</a:t>
            </a:r>
            <a:endParaRPr/>
          </a:p>
        </p:txBody>
      </p:sp>
      <p:sp>
        <p:nvSpPr>
          <p:cNvPr id="123" name="Google Shape;123;p6"/>
          <p:cNvSpPr txBox="1"/>
          <p:nvPr/>
        </p:nvSpPr>
        <p:spPr>
          <a:xfrm>
            <a:off x="1493537" y="1864910"/>
            <a:ext cx="15300927" cy="878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4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understand feature distribution, detect outliers, and explore relationships between variables affecting solar power generation.</a:t>
            </a:r>
            <a:endParaRPr/>
          </a:p>
        </p:txBody>
      </p:sp>
      <p:sp>
        <p:nvSpPr>
          <p:cNvPr id="124" name="Google Shape;124;p6"/>
          <p:cNvSpPr txBox="1"/>
          <p:nvPr/>
        </p:nvSpPr>
        <p:spPr>
          <a:xfrm>
            <a:off x="1028700" y="3481936"/>
            <a:ext cx="6015105" cy="4803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🔍 Key Insights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features (temperature, wind-speed, humidity) follow near-normal distributions.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Outliers detected in humidity, wind-direction, and visibility.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correlation between temperature and power-generated (direct relationship).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Sky-cover and humidity negatively influence power output.</a:t>
            </a:r>
            <a:endParaRPr/>
          </a:p>
        </p:txBody>
      </p:sp>
      <p:sp>
        <p:nvSpPr>
          <p:cNvPr id="125" name="Google Shape;125;p6"/>
          <p:cNvSpPr txBox="1"/>
          <p:nvPr/>
        </p:nvSpPr>
        <p:spPr>
          <a:xfrm>
            <a:off x="8358127" y="3039805"/>
            <a:ext cx="7420003" cy="2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9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Visuals: Feature Distribution (Boxplots) &amp; Correlation Heatmap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BFD4"/>
            </a:gs>
            <a:gs pos="100000">
              <a:srgbClr val="F1DD76"/>
            </a:gs>
          </a:gsLst>
          <a:lin ang="0" scaled="0"/>
        </a:gra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/>
        </p:nvSpPr>
        <p:spPr>
          <a:xfrm>
            <a:off x="5976322" y="952500"/>
            <a:ext cx="5840135" cy="704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4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🧹 Data Preprocessing</a:t>
            </a:r>
            <a:endParaRPr/>
          </a:p>
        </p:txBody>
      </p:sp>
      <p:sp>
        <p:nvSpPr>
          <p:cNvPr id="131" name="Google Shape;131;p7"/>
          <p:cNvSpPr txBox="1"/>
          <p:nvPr/>
        </p:nvSpPr>
        <p:spPr>
          <a:xfrm>
            <a:off x="4430607" y="3224610"/>
            <a:ext cx="10211038" cy="279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6071" lvl="1" marL="572143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Char char="•"/>
            </a:pPr>
            <a:r>
              <a:rPr b="0" i="0" lang="en-US" sz="2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features scaled using StandardScaler for model stability.</a:t>
            </a:r>
            <a:endParaRPr/>
          </a:p>
          <a:p>
            <a:pPr indent="-286071" lvl="1" marL="572143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Char char="•"/>
            </a:pPr>
            <a:r>
              <a:rPr b="0" i="0" lang="en-US" sz="2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Train–test split performed (80/20).</a:t>
            </a:r>
            <a:endParaRPr/>
          </a:p>
          <a:p>
            <a:pPr indent="-286071" lvl="1" marL="572143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Char char="•"/>
            </a:pPr>
            <a:r>
              <a:rPr b="0" i="0" lang="en-US" sz="2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Saved model components:</a:t>
            </a:r>
            <a:endParaRPr/>
          </a:p>
          <a:p>
            <a:pPr indent="-381427" lvl="2" marL="1144285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Char char="⚬"/>
            </a:pPr>
            <a:r>
              <a:rPr b="0" i="0" lang="en-US" sz="2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best_model.pkl</a:t>
            </a:r>
            <a:endParaRPr/>
          </a:p>
          <a:p>
            <a:pPr indent="-381427" lvl="2" marL="1144285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Char char="⚬"/>
            </a:pPr>
            <a:r>
              <a:rPr b="0" i="0" lang="en-US" sz="2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scaler.pkl</a:t>
            </a:r>
            <a:endParaRPr/>
          </a:p>
          <a:p>
            <a:pPr indent="-286071" lvl="1" marL="572143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Char char="•"/>
            </a:pPr>
            <a:r>
              <a:rPr b="0" i="0" lang="en-US" sz="2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order kept identical during deployment.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BFD4"/>
            </a:gs>
            <a:gs pos="100000">
              <a:srgbClr val="F1DD76"/>
            </a:gs>
          </a:gsLst>
          <a:lin ang="0" scaled="0"/>
        </a:gra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7748378" y="3428107"/>
            <a:ext cx="9994457" cy="2543482"/>
          </a:xfrm>
          <a:custGeom>
            <a:rect b="b" l="l" r="r" t="t"/>
            <a:pathLst>
              <a:path extrusionOk="0" h="2543482" w="9994457">
                <a:moveTo>
                  <a:pt x="0" y="0"/>
                </a:moveTo>
                <a:lnTo>
                  <a:pt x="9994456" y="0"/>
                </a:lnTo>
                <a:lnTo>
                  <a:pt x="9994456" y="2543482"/>
                </a:lnTo>
                <a:lnTo>
                  <a:pt x="0" y="25434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099" l="0" r="-1508" t="-3099"/>
            </a:stretch>
          </a:blipFill>
          <a:ln>
            <a:noFill/>
          </a:ln>
        </p:spPr>
      </p:sp>
      <p:sp>
        <p:nvSpPr>
          <p:cNvPr id="137" name="Google Shape;137;p8"/>
          <p:cNvSpPr/>
          <p:nvPr/>
        </p:nvSpPr>
        <p:spPr>
          <a:xfrm>
            <a:off x="7748378" y="5971589"/>
            <a:ext cx="9994457" cy="4315411"/>
          </a:xfrm>
          <a:custGeom>
            <a:rect b="b" l="l" r="r" t="t"/>
            <a:pathLst>
              <a:path extrusionOk="0" h="4315411" w="9994457">
                <a:moveTo>
                  <a:pt x="0" y="0"/>
                </a:moveTo>
                <a:lnTo>
                  <a:pt x="9994456" y="0"/>
                </a:lnTo>
                <a:lnTo>
                  <a:pt x="9994456" y="4315411"/>
                </a:lnTo>
                <a:lnTo>
                  <a:pt x="0" y="43154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2666" l="0" r="0" t="-3128"/>
            </a:stretch>
          </a:blipFill>
          <a:ln>
            <a:noFill/>
          </a:ln>
        </p:spPr>
      </p:sp>
      <p:sp>
        <p:nvSpPr>
          <p:cNvPr id="138" name="Google Shape;138;p8"/>
          <p:cNvSpPr txBox="1"/>
          <p:nvPr/>
        </p:nvSpPr>
        <p:spPr>
          <a:xfrm>
            <a:off x="4992734" y="485050"/>
            <a:ext cx="8294489" cy="704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4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🤖 Modeling Overview &amp; Results</a:t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1163760" y="1290955"/>
            <a:ext cx="162306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build and evaluate multiple regression models for predicting solar power generation.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Models Used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Regression, Decision Tree, Random Forest , XGBoost ,Gradient Boosting Regressor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612696" y="3818632"/>
            <a:ext cx="6222169" cy="611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📊 Key Insights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models were trained using standardized data (StandardScaler).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Gradient Boosting Regressor achieved the best accuracy among all models.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Metrics evaluated:</a:t>
            </a:r>
            <a:endParaRPr/>
          </a:p>
          <a:p>
            <a:pPr indent="-359833" lvl="2" marL="107949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lphaL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R² Score, MSE, MAE, RMSE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Gradient Boosting showed the highest </a:t>
            </a: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R² (~0.901)</a:t>
            </a: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lowest error values, making it the final selected model.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🧩 Best Model Selected: Gradient Boosting Regressor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BFD4"/>
            </a:gs>
            <a:gs pos="100000">
              <a:srgbClr val="F1DD76"/>
            </a:gs>
          </a:gsLst>
          <a:lin ang="0" scaled="0"/>
        </a:gra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/>
        </p:nvSpPr>
        <p:spPr>
          <a:xfrm>
            <a:off x="4571991" y="642620"/>
            <a:ext cx="94506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4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🌐 Deployment &amp; Live Output</a:t>
            </a:r>
            <a:endParaRPr/>
          </a:p>
        </p:txBody>
      </p:sp>
      <p:sp>
        <p:nvSpPr>
          <p:cNvPr id="146" name="Google Shape;146;p9"/>
          <p:cNvSpPr txBox="1"/>
          <p:nvPr/>
        </p:nvSpPr>
        <p:spPr>
          <a:xfrm>
            <a:off x="1148012" y="1766071"/>
            <a:ext cx="16111288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deploy the trained Gradient Boosting model with a Streamlit web interface, enabling real-time solar power prediction based on weather inputs.</a:t>
            </a:r>
            <a:endParaRPr/>
          </a:p>
        </p:txBody>
      </p:sp>
      <p:sp>
        <p:nvSpPr>
          <p:cNvPr id="147" name="Google Shape;147;p9"/>
          <p:cNvSpPr txBox="1"/>
          <p:nvPr/>
        </p:nvSpPr>
        <p:spPr>
          <a:xfrm>
            <a:off x="1028700" y="3992036"/>
            <a:ext cx="6083111" cy="3051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⚙️ Tools &amp; Platform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Streamlit Cloud – to host and run the app online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– for version control and integration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Pickle (.pkl) – for saving and loading the trained model and scaler</a:t>
            </a:r>
            <a:endParaRPr/>
          </a:p>
        </p:txBody>
      </p:sp>
      <p:sp>
        <p:nvSpPr>
          <p:cNvPr id="148" name="Google Shape;148;p9"/>
          <p:cNvSpPr txBox="1"/>
          <p:nvPr/>
        </p:nvSpPr>
        <p:spPr>
          <a:xfrm>
            <a:off x="8680892" y="3992036"/>
            <a:ext cx="7672587" cy="3051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💻</a:t>
            </a: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Deployment Workflow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 files to GitHub → app.py, best_model.pkl, scaler.pkl, requirements.txt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Connect GitHub repo to Streamlit Cloud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App automatically builds and runs on cloud servers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Share the public link for live prediction</a:t>
            </a:r>
            <a:endParaRPr/>
          </a:p>
        </p:txBody>
      </p:sp>
      <p:sp>
        <p:nvSpPr>
          <p:cNvPr id="149" name="Google Shape;149;p9"/>
          <p:cNvSpPr txBox="1"/>
          <p:nvPr/>
        </p:nvSpPr>
        <p:spPr>
          <a:xfrm>
            <a:off x="5771316" y="7471836"/>
            <a:ext cx="10281167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sng" cap="none" strike="noStrike">
                <a:solidFill>
                  <a:srgbClr val="1E57BE"/>
                </a:solidFill>
                <a:latin typeface="Arial"/>
                <a:ea typeface="Arial"/>
                <a:cs typeface="Arial"/>
                <a:sym typeface="Arial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👉 https://solarpowerapp-fx6akuz7phlbpaspgm5pcn.streamlit.app/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BFD4"/>
            </a:gs>
            <a:gs pos="100000">
              <a:srgbClr val="F1DD76"/>
            </a:gs>
          </a:gsLst>
          <a:lin ang="0" scaled="0"/>
        </a:gra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/>
          <p:nvPr/>
        </p:nvSpPr>
        <p:spPr>
          <a:xfrm>
            <a:off x="1028700" y="1560601"/>
            <a:ext cx="16230600" cy="7165798"/>
          </a:xfrm>
          <a:custGeom>
            <a:rect b="b" l="l" r="r" t="t"/>
            <a:pathLst>
              <a:path extrusionOk="0" h="7165798" w="16230600">
                <a:moveTo>
                  <a:pt x="0" y="0"/>
                </a:moveTo>
                <a:lnTo>
                  <a:pt x="16230600" y="0"/>
                </a:lnTo>
                <a:lnTo>
                  <a:pt x="16230600" y="7165798"/>
                </a:lnTo>
                <a:lnTo>
                  <a:pt x="0" y="71657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01" r="-1469" t="-8692"/>
            </a:stretch>
          </a:blipFill>
          <a:ln>
            <a:noFill/>
          </a:ln>
        </p:spPr>
      </p:sp>
      <p:sp>
        <p:nvSpPr>
          <p:cNvPr id="155" name="Google Shape;155;p10"/>
          <p:cNvSpPr txBox="1"/>
          <p:nvPr/>
        </p:nvSpPr>
        <p:spPr>
          <a:xfrm>
            <a:off x="1028700" y="621222"/>
            <a:ext cx="12822749" cy="114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📊Live Streamlit App – Input Panel and Prediction Interface</a:t>
            </a:r>
            <a:endParaRPr/>
          </a:p>
          <a:p>
            <a:pPr indent="0" lvl="0" marL="0" marR="0" rtl="0" algn="l">
              <a:lnSpc>
                <a:spcPct val="1441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0"/>
          <p:cNvSpPr txBox="1"/>
          <p:nvPr/>
        </p:nvSpPr>
        <p:spPr>
          <a:xfrm>
            <a:off x="4041308" y="8994142"/>
            <a:ext cx="8598337" cy="264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User inputs parameters → Click Predict → Model generates real-time solar power output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BFD4"/>
            </a:gs>
            <a:gs pos="100000">
              <a:srgbClr val="F1DD76"/>
            </a:gs>
          </a:gsLst>
          <a:lin ang="0" scaled="0"/>
        </a:gra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/>
          <p:nvPr/>
        </p:nvSpPr>
        <p:spPr>
          <a:xfrm>
            <a:off x="2486838" y="4129300"/>
            <a:ext cx="11924773" cy="5448971"/>
          </a:xfrm>
          <a:custGeom>
            <a:rect b="b" l="l" r="r" t="t"/>
            <a:pathLst>
              <a:path extrusionOk="0" h="5646602" w="11924773">
                <a:moveTo>
                  <a:pt x="0" y="0"/>
                </a:moveTo>
                <a:lnTo>
                  <a:pt x="11924772" y="0"/>
                </a:lnTo>
                <a:lnTo>
                  <a:pt x="11924772" y="5646602"/>
                </a:lnTo>
                <a:lnTo>
                  <a:pt x="0" y="56466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1"/>
          <p:cNvSpPr txBox="1"/>
          <p:nvPr/>
        </p:nvSpPr>
        <p:spPr>
          <a:xfrm>
            <a:off x="1028700" y="971550"/>
            <a:ext cx="11723032" cy="2622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Key Insights</a:t>
            </a:r>
            <a:endParaRPr/>
          </a:p>
          <a:p>
            <a:pPr indent="-269880" lvl="1" marL="53975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AutoNum type="arabicPeriod"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Instant solar power prediction based on user inputs</a:t>
            </a:r>
            <a:endParaRPr/>
          </a:p>
          <a:p>
            <a:pPr indent="-269880" lvl="1" marL="53975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AutoNum type="arabicPeriod"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 visualization:</a:t>
            </a:r>
            <a:endParaRPr/>
          </a:p>
          <a:p>
            <a:pPr indent="-359839" lvl="2" marL="107951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AutoNum type="alphaLcPeriod"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🔴 Low 🟡 Moderate 🟢 High power generation</a:t>
            </a:r>
            <a:endParaRPr/>
          </a:p>
          <a:p>
            <a:pPr indent="-269880" lvl="1" marL="53975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AutoNum type="arabicPeriod"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sliders for temperature, humidity, visibility, etc.</a:t>
            </a:r>
            <a:endParaRPr/>
          </a:p>
          <a:p>
            <a:pPr indent="-269880" lvl="1" marL="53975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AutoNum type="arabicPeriod"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Uses same Gradient Boosting Regressor trained during modeling</a:t>
            </a:r>
            <a:endParaRPr/>
          </a:p>
        </p:txBody>
      </p:sp>
      <p:sp>
        <p:nvSpPr>
          <p:cNvPr id="163" name="Google Shape;163;p11"/>
          <p:cNvSpPr txBox="1"/>
          <p:nvPr/>
        </p:nvSpPr>
        <p:spPr>
          <a:xfrm>
            <a:off x="5252128" y="9679939"/>
            <a:ext cx="656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Model predicted 1609 units of solar power — Low generation zone.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BFD4"/>
            </a:gs>
            <a:gs pos="100000">
              <a:srgbClr val="F1DD76"/>
            </a:gs>
          </a:gsLst>
          <a:lin ang="0" scaled="0"/>
        </a:gra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/>
        </p:nvSpPr>
        <p:spPr>
          <a:xfrm>
            <a:off x="9139238" y="4938078"/>
            <a:ext cx="9525" cy="372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 txBox="1"/>
          <p:nvPr/>
        </p:nvSpPr>
        <p:spPr>
          <a:xfrm>
            <a:off x="6291490" y="952500"/>
            <a:ext cx="4980139" cy="704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4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🧩 Challenges </a:t>
            </a:r>
            <a:endParaRPr/>
          </a:p>
        </p:txBody>
      </p:sp>
      <p:sp>
        <p:nvSpPr>
          <p:cNvPr id="170" name="Google Shape;170;p12"/>
          <p:cNvSpPr txBox="1"/>
          <p:nvPr/>
        </p:nvSpPr>
        <p:spPr>
          <a:xfrm>
            <a:off x="3955515" y="2818527"/>
            <a:ext cx="10367445" cy="393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9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880" lvl="1" marL="539759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AutoNum type="arabicPeriod"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Quality Issues: Missing and inconsistent weather data required cleaning and scaling.</a:t>
            </a:r>
            <a:endParaRPr/>
          </a:p>
          <a:p>
            <a:pPr indent="-269880" lvl="1" marL="539759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AutoNum type="arabicPeriod"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Tuning: Achieving a balance between bias and variance during training.</a:t>
            </a:r>
            <a:endParaRPr/>
          </a:p>
          <a:p>
            <a:pPr indent="-269880" lvl="1" marL="539759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AutoNum type="arabicPeriod"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Deployment Integration: Ensuring .pkl model files loaded correctly on Streamlit Cloud.</a:t>
            </a:r>
            <a:endParaRPr/>
          </a:p>
          <a:p>
            <a:pPr indent="-269880" lvl="1" marL="539759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AutoNum type="arabicPeriod"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 Dataset Scope: Model performance could improve with more seasonal and regional data.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BFD4"/>
            </a:gs>
            <a:gs pos="100000">
              <a:srgbClr val="F1DD76"/>
            </a:gs>
          </a:gsLst>
          <a:lin ang="0" scaled="0"/>
        </a:gra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/>
          <p:nvPr/>
        </p:nvSpPr>
        <p:spPr>
          <a:xfrm>
            <a:off x="7273826" y="952500"/>
            <a:ext cx="3740348" cy="704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4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📝Conclusion </a:t>
            </a:r>
            <a:endParaRPr/>
          </a:p>
        </p:txBody>
      </p:sp>
      <p:sp>
        <p:nvSpPr>
          <p:cNvPr id="176" name="Google Shape;176;p13"/>
          <p:cNvSpPr txBox="1"/>
          <p:nvPr/>
        </p:nvSpPr>
        <p:spPr>
          <a:xfrm>
            <a:off x="3665109" y="2726059"/>
            <a:ext cx="10957781" cy="4012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97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678" lvl="1" marL="547358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35"/>
              <a:buFont typeface="Arial"/>
              <a:buAutoNum type="arabicPeriod"/>
            </a:pPr>
            <a:r>
              <a:rPr b="0" i="0" lang="en-US" sz="253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project successfully predicts solar power generation using weather parameters through machine learning.</a:t>
            </a:r>
            <a:endParaRPr/>
          </a:p>
          <a:p>
            <a:pPr indent="-273678" lvl="1" marL="547358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35"/>
              <a:buFont typeface="Arial"/>
              <a:buAutoNum type="arabicPeriod"/>
            </a:pPr>
            <a:r>
              <a:rPr b="0" i="0" lang="en-US" sz="253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Among all tested models, the Gradient Boosting Regressor delivered the best accuracy (R² ≈ 0.90).</a:t>
            </a:r>
            <a:endParaRPr/>
          </a:p>
          <a:p>
            <a:pPr indent="-273678" lvl="1" marL="547358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35"/>
              <a:buFont typeface="Arial"/>
              <a:buAutoNum type="arabicPeriod"/>
            </a:pPr>
            <a:r>
              <a:rPr b="0" i="0" lang="en-US" sz="253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Deployment on Streamlit Cloud enabled real-time predictions with an interactive web interface.</a:t>
            </a:r>
            <a:endParaRPr/>
          </a:p>
          <a:p>
            <a:pPr indent="-273678" lvl="1" marL="547358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35"/>
              <a:buFont typeface="Arial"/>
              <a:buAutoNum type="arabicPeriod"/>
            </a:pPr>
            <a:r>
              <a:rPr b="0" i="0" lang="en-US" sz="253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Demonstrates how data science can support renewable energy optimization and efficient planning.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BFD4"/>
            </a:gs>
            <a:gs pos="100000">
              <a:srgbClr val="F1DD76"/>
            </a:gs>
          </a:gsLst>
          <a:lin ang="0" scaled="0"/>
        </a:gra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/>
          <p:nvPr/>
        </p:nvSpPr>
        <p:spPr>
          <a:xfrm>
            <a:off x="7209532" y="952500"/>
            <a:ext cx="3868936" cy="704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4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🚀Future Work</a:t>
            </a:r>
            <a:endParaRPr/>
          </a:p>
        </p:txBody>
      </p:sp>
      <p:sp>
        <p:nvSpPr>
          <p:cNvPr id="182" name="Google Shape;182;p14"/>
          <p:cNvSpPr txBox="1"/>
          <p:nvPr/>
        </p:nvSpPr>
        <p:spPr>
          <a:xfrm>
            <a:off x="4030216" y="2777713"/>
            <a:ext cx="10227568" cy="4365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9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9873" lvl="1" marL="539748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Expand dataset with real-time satellite and IoT sensor inputs.</a:t>
            </a:r>
            <a:endParaRPr/>
          </a:p>
          <a:p>
            <a:pPr indent="-269873" lvl="1" marL="539748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 forecast APIs (e.g., OpenWeatherMap) for dynamic prediction updates.</a:t>
            </a:r>
            <a:endParaRPr/>
          </a:p>
          <a:p>
            <a:pPr indent="-269873" lvl="1" marL="539748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dashboard version with historical trends and live monitoring.</a:t>
            </a:r>
            <a:endParaRPr/>
          </a:p>
          <a:p>
            <a:pPr indent="-269873" lvl="1" marL="539748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deep learning models (LSTM / CNN) for more accurate long-term forecasting.</a:t>
            </a:r>
            <a:endParaRPr/>
          </a:p>
          <a:p>
            <a:pPr indent="-269873" lvl="1" marL="539748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AutoNum type="arabicPeriod"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on AWS or Azure for large-scale deployment with automated updates.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BFD4"/>
            </a:gs>
            <a:gs pos="100000">
              <a:srgbClr val="F1DD76"/>
            </a:gs>
          </a:gsLst>
          <a:lin ang="0" scaled="0"/>
        </a:gra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15"/>
          <p:cNvGrpSpPr/>
          <p:nvPr/>
        </p:nvGrpSpPr>
        <p:grpSpPr>
          <a:xfrm>
            <a:off x="3783805" y="1789557"/>
            <a:ext cx="10774293" cy="7017553"/>
            <a:chOff x="71870" y="412892"/>
            <a:chExt cx="14365724" cy="9356737"/>
          </a:xfrm>
        </p:grpSpPr>
        <p:sp>
          <p:nvSpPr>
            <p:cNvPr id="188" name="Google Shape;188;p15"/>
            <p:cNvSpPr txBox="1"/>
            <p:nvPr/>
          </p:nvSpPr>
          <p:spPr>
            <a:xfrm rot="-592460">
              <a:off x="325749" y="1551321"/>
              <a:ext cx="13634597" cy="4138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455" u="none" cap="none" strike="noStrike">
                  <a:solidFill>
                    <a:srgbClr val="F6F3E4"/>
                  </a:solidFill>
                  <a:latin typeface="Arial"/>
                  <a:ea typeface="Arial"/>
                  <a:cs typeface="Arial"/>
                  <a:sym typeface="Arial"/>
                </a:rPr>
                <a:t>Thank</a:t>
              </a:r>
              <a:endParaRPr/>
            </a:p>
          </p:txBody>
        </p:sp>
        <p:sp>
          <p:nvSpPr>
            <p:cNvPr id="189" name="Google Shape;189;p15"/>
            <p:cNvSpPr txBox="1"/>
            <p:nvPr/>
          </p:nvSpPr>
          <p:spPr>
            <a:xfrm rot="-515361">
              <a:off x="1794320" y="5132707"/>
              <a:ext cx="12434519" cy="3729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10" u="none" cap="none" strike="noStrike">
                  <a:solidFill>
                    <a:srgbClr val="F6F3E4"/>
                  </a:solidFill>
                  <a:latin typeface="Arial"/>
                  <a:ea typeface="Arial"/>
                  <a:cs typeface="Arial"/>
                  <a:sym typeface="Arial"/>
                </a:rPr>
                <a:t>you!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